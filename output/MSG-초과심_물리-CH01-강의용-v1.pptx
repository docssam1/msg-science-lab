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85de0b47a14435" /><Relationship Type="http://schemas.openxmlformats.org/officeDocument/2006/relationships/extended-properties" Target="/docProps/app.xml" Id="Rfcc4da1c01134f41" /><Relationship Type="http://schemas.openxmlformats.org/officeDocument/2006/relationships/officeDocument" Target="/ppt/presentation.xml" Id="Re80cf97567f843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2acada942c4aa5"/>
  </p:sldMasterIdLst>
  <p:notesMasterIdLst>
    <p:notesMasterId xmlns:r="http://schemas.openxmlformats.org/officeDocument/2006/relationships" r:id="Raca5ee38f97a488a"/>
  </p:notesMasterIdLst>
  <p:sldIdLst>
    <p:sldId xmlns:r="http://schemas.openxmlformats.org/officeDocument/2006/relationships" id="256" r:id="R4c4bfed60bc74597"/>
    <p:sldId xmlns:r="http://schemas.openxmlformats.org/officeDocument/2006/relationships" id="257" r:id="Rb9f9f42e97684f1d"/>
    <p:sldId xmlns:r="http://schemas.openxmlformats.org/officeDocument/2006/relationships" id="258" r:id="R3a9663411cef458b"/>
    <p:sldId xmlns:r="http://schemas.openxmlformats.org/officeDocument/2006/relationships" id="259" r:id="R8192db77674b4c75"/>
    <p:sldId xmlns:r="http://schemas.openxmlformats.org/officeDocument/2006/relationships" id="260" r:id="R1f7f87b66210480e"/>
    <p:sldId xmlns:r="http://schemas.openxmlformats.org/officeDocument/2006/relationships" id="261" r:id="R862a287632714953"/>
    <p:sldId xmlns:r="http://schemas.openxmlformats.org/officeDocument/2006/relationships" id="262" r:id="R43efe1695f954319"/>
    <p:sldId xmlns:r="http://schemas.openxmlformats.org/officeDocument/2006/relationships" id="263" r:id="Rd25256494466453b"/>
    <p:sldId xmlns:r="http://schemas.openxmlformats.org/officeDocument/2006/relationships" id="264" r:id="Rb1e426b14d454a11"/>
    <p:sldId xmlns:r="http://schemas.openxmlformats.org/officeDocument/2006/relationships" id="265" r:id="R94f7eed5d640456b"/>
    <p:sldId xmlns:r="http://schemas.openxmlformats.org/officeDocument/2006/relationships" id="266" r:id="R232ffc7284c04fc2"/>
    <p:sldId xmlns:r="http://schemas.openxmlformats.org/officeDocument/2006/relationships" id="267" r:id="R4a59a4d0905d44b7"/>
    <p:sldId xmlns:r="http://schemas.openxmlformats.org/officeDocument/2006/relationships" id="268" r:id="Re15922759eea4e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7c868e5ad04855" /><Relationship Type="http://schemas.openxmlformats.org/officeDocument/2006/relationships/slideMaster" Target="/ppt/slideMasters/slideMaster1.xml" Id="R3a2acada942c4aa5" /><Relationship Type="http://schemas.openxmlformats.org/officeDocument/2006/relationships/notesMaster" Target="/ppt/notesMasters/notesMaster1.xml" Id="Raca5ee38f97a488a" /><Relationship Type="http://schemas.openxmlformats.org/officeDocument/2006/relationships/presProps" Target="/ppt/presProps.xml" Id="R04bc83c7d4224737" /><Relationship Type="http://schemas.openxmlformats.org/officeDocument/2006/relationships/tableStyles" Target="/ppt/tableStyles.xml" Id="R891fa245af314244" /><Relationship Type="http://schemas.openxmlformats.org/officeDocument/2006/relationships/slide" Target="/ppt/slides/slide1.xml" Id="R4c4bfed60bc74597" /><Relationship Type="http://schemas.openxmlformats.org/officeDocument/2006/relationships/slide" Target="/ppt/slides/slide2.xml" Id="Rb9f9f42e97684f1d" /><Relationship Type="http://schemas.openxmlformats.org/officeDocument/2006/relationships/slide" Target="/ppt/slides/slide3.xml" Id="R3a9663411cef458b" /><Relationship Type="http://schemas.openxmlformats.org/officeDocument/2006/relationships/slide" Target="/ppt/slides/slide4.xml" Id="R8192db77674b4c75" /><Relationship Type="http://schemas.openxmlformats.org/officeDocument/2006/relationships/slide" Target="/ppt/slides/slide5.xml" Id="R1f7f87b66210480e" /><Relationship Type="http://schemas.openxmlformats.org/officeDocument/2006/relationships/slide" Target="/ppt/slides/slide6.xml" Id="R862a287632714953" /><Relationship Type="http://schemas.openxmlformats.org/officeDocument/2006/relationships/slide" Target="/ppt/slides/slide7.xml" Id="R43efe1695f954319" /><Relationship Type="http://schemas.openxmlformats.org/officeDocument/2006/relationships/slide" Target="/ppt/slides/slide8.xml" Id="Rd25256494466453b" /><Relationship Type="http://schemas.openxmlformats.org/officeDocument/2006/relationships/slide" Target="/ppt/slides/slide9.xml" Id="Rb1e426b14d454a11" /><Relationship Type="http://schemas.openxmlformats.org/officeDocument/2006/relationships/slide" Target="/ppt/slides/slide10.xml" Id="R94f7eed5d640456b" /><Relationship Type="http://schemas.openxmlformats.org/officeDocument/2006/relationships/slide" Target="/ppt/slides/slide11.xml" Id="R232ffc7284c04fc2" /><Relationship Type="http://schemas.openxmlformats.org/officeDocument/2006/relationships/slide" Target="/ppt/slides/slide12.xml" Id="R4a59a4d0905d44b7" /><Relationship Type="http://schemas.openxmlformats.org/officeDocument/2006/relationships/slide" Target="/ppt/slides/slide13.xml" Id="Re15922759eea4e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bd9206b36f4d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92342faf324141" /><Relationship Type="http://schemas.openxmlformats.org/officeDocument/2006/relationships/notesMaster" Target="/ppt/notesMasters/notesMaster1.xml" Id="Rad24e6d031d94d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97c0a709ec46d9" /><Relationship Type="http://schemas.openxmlformats.org/officeDocument/2006/relationships/notesMaster" Target="/ppt/notesMasters/notesMaster1.xml" Id="Rd67614753afa4c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7d34f4a5ab4f0c" /><Relationship Type="http://schemas.openxmlformats.org/officeDocument/2006/relationships/notesMaster" Target="/ppt/notesMasters/notesMaster1.xml" Id="Rd21a904c59ce4f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99f8bab8164d91" /><Relationship Type="http://schemas.openxmlformats.org/officeDocument/2006/relationships/notesMaster" Target="/ppt/notesMasters/notesMaster1.xml" Id="R46a0c5fe5c3342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ec40b3fef84c2f" /><Relationship Type="http://schemas.openxmlformats.org/officeDocument/2006/relationships/notesMaster" Target="/ppt/notesMasters/notesMaster1.xml" Id="R8721ba3d90714a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993ad72b934e19" /><Relationship Type="http://schemas.openxmlformats.org/officeDocument/2006/relationships/notesMaster" Target="/ppt/notesMasters/notesMaster1.xml" Id="Rd7074a681bfb46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4c05fc79db4020" /><Relationship Type="http://schemas.openxmlformats.org/officeDocument/2006/relationships/notesMaster" Target="/ppt/notesMasters/notesMaster1.xml" Id="Rfe18ea491f264d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37770a5e914862" /><Relationship Type="http://schemas.openxmlformats.org/officeDocument/2006/relationships/notesMaster" Target="/ppt/notesMasters/notesMaster1.xml" Id="R1ae7ccd362c146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b4acfa2a7b4cfe" /><Relationship Type="http://schemas.openxmlformats.org/officeDocument/2006/relationships/notesMaster" Target="/ppt/notesMasters/notesMaster1.xml" Id="R9c9098f76aaf45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de2acdb086416a" /><Relationship Type="http://schemas.openxmlformats.org/officeDocument/2006/relationships/notesMaster" Target="/ppt/notesMasters/notesMaster1.xml" Id="R453af6938fb74c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a28246eac4476b" /><Relationship Type="http://schemas.openxmlformats.org/officeDocument/2006/relationships/notesMaster" Target="/ppt/notesMasters/notesMaster1.xml" Id="Ra8725b3df3774a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a5a334d00e14245" /><Relationship Type="http://schemas.openxmlformats.org/officeDocument/2006/relationships/notesMaster" Target="/ppt/notesMasters/notesMaster1.xml" Id="Raedf700c3e5945d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5c5ae082940451e" /><Relationship Type="http://schemas.openxmlformats.org/officeDocument/2006/relationships/notesMaster" Target="/ppt/notesMasters/notesMaster1.xml" Id="R3faad320950c4e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초과심_물리 본문 인쇄 10쪽. https://drive.google.com/file/d/1oatstBXJS3VBsSqT0v2VnA67wDktBWSt/view</a:t>
            </a:r>
          </a:p>
          <a:p xmlns:a="http://schemas.openxmlformats.org/drawingml/2006/main">
            <a:r>
              <a:t>이 파일은 CHAPTER 01 강의용 진행 자료입니다. 전자칠판 링크는 같은 PC에서 로컬 미리보기 서버를 실행해야 열립니다. 웹 실험은 가상 모형이며 실제 촬영이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https://drive.google.com/file/d/1oatstBXJS3VBsSqT0v2VnA67wDktBWSt/view 인쇄 10쪽 장점과 단점. 손 어림과 저울 측정을 비교하는 도입 질문은 원본 개념을 확장한 수업 활동이다. 예상 후 두 학생이 번갈아 설명하도록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https://drive.google.com/file/d/1oatstBXJS3VBsSqT0v2VnA67wDktBWSt/view 인쇄 10쪽 원본 구조 그림. 학생이 부품을 선택하고 기능을 설명하게 한다. 표시자의 윗부분을 기준으로 눈금을 읽는다.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https://drive.google.com/file/d/1oatstBXJS3VBsSqT0v2VnA67wDktBWSt/view 인쇄 10쪽 사용 방법. 정답: 물체를 달기 전에 영점조절나사로 표시자가 0을 가리키도록 맞춘다. 웹 가상 저울은 시작 시 4 N 오차이며 − 조절 두 번으로 맞춘다. 이 수치는 원본 교구 규격이 아닌 모형의 설정이다.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https://drive.google.com/file/d/1oatstBXJS3VBsSqT0v2VnA67wDktBWSt/view 인쇄 10–11쪽. 정답: 흔들림이 멈춘 다음 읽는다. 실제 교구에서는 측정 범위를 넘기지 않는다. 웹에서 40 N 선택은 30 N 가상 저울에 걸리지 않고 경고만 나온다. 무음 시연 후 학생이 직접 조작하도록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https://drive.google.com/file/d/1oatstBXJS3VBsSqT0v2VnA67wDktBWSt/view 인쇄 11쪽 원본 그림. 정답: ②. 표시자의 윗부분과 눈높이를 맞춘다. 학생이 웹의 위/같은 높이/아래 버튼을 비교한다. 웹의 18/20/22 N은 시차를 설명하기 위한 예시 수치이다.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초과심_물리 본문 인쇄 12쪽. https://drive.google.com/file/d/1oatstBXJS3VBsSqT0v2VnA67wDktBWSt/view</a:t>
            </a:r>
          </a:p>
          <a:p xmlns:a="http://schemas.openxmlformats.org/drawingml/2006/main">
            <a:r>
              <a:t>이 파일은 CHAPTER 01 강의용 진행 자료입니다. 전자칠판 링크는 같은 PC에서 로컬 미리보기 서버를 실행해야 열립니다. 웹 실험은 가상 모형이며 실제 촬영이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https://drive.google.com/file/d/1oatstBXJS3VBsSqT0v2VnA67wDktBWSt/view 인쇄 13–14쪽, 교재의 원 출처 표기 MSD(Motion System Design). 역사와 미래 기술의 원문 읽기를 안내한다. 연대, 인물, 성능 수치의 독립 검증을 완료한 것으로 표현하지 않는다. 주변 도구 속 용수철의 역할을 말하게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https://drive.google.com/file/d/1oatstBXJS3VBsSqT0v2VnA67wDktBWSt/view 인쇄 15쪽 daily test 01, 원본 그림. 풀이: ㄱ 영점조절나사, ㄴ 용수철, ㄷ 표시자, ㄹ 고리. 서답형 유지. 별도 공식 daily test 해설은 확인되지 않아 본문 10쪽에 대조한 답이다.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https://drive.google.com/file/d/1oatstBXJS3VBsSqT0v2VnA67wDktBWSt/view 인쇄 15쪽 daily test 02–03. 02 정답 ③. 03 정답 표시자. 슬라이드에는 공간상 질문을 요약했고 원문 전체는 연결된 웹 일일평가에 보존했다. 학생 답변 뒤에 공개한다.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https://drive.google.com/file/d/1oatstBXJS3VBsSqT0v2VnA67wDktBWSt/view 인쇄 15쪽 daily test 04 원본 그림. 정답 ㄴ. 표시자의 윗부분과 같은 높이에서 읽는다.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https://drive.google.com/file/d/1oatstBXJS3VBsSqT0v2VnA67wDktBWSt/view 인쇄 15쪽 daily test 05–06. 본문과 기하 관계로 검토한 답: 05 20 N 초과, 06 고리. 05는 눈금이 아래로 커지고 표시자가 눈금판 앞에 있는 원본 구조를 전제로 한다. 슬라이드 질문은 요약이며 웹 일일평가에 원문 전체를 보존했다.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https://drive.google.com/file/d/1oatstBXJS3VBsSqT0v2VnA67wDktBWSt/view 인쇄 10–15쪽 종합. 영점 확인 → 고리에 물체 매달기 → 표시자가 멈출 때까지 기다리기 → 눈높이를 맞춰 단위와 함께 읽기. 원본 단원평가 인쇄 44–47쪽 20문항은 전체 단원 학습 후 별도 실시한다. 이 시범은 CHAPTER 01에 한정하며 실제 촬영 영상/OmniVoice 음성은 미연결이다.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15babc9ed447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e5ee1a431748cb" /><Relationship Type="http://schemas.openxmlformats.org/officeDocument/2006/relationships/slideLayout" Target="/ppt/slideLayouts/slideLayout1.xml" Id="Ra14af099b8154f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4af099b8154f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150cf13e34364" /><Relationship Type="http://schemas.openxmlformats.org/officeDocument/2006/relationships/image" Target="/ppt/media/image.png" Id="R71f1af509e444503" /><Relationship Type="http://schemas.openxmlformats.org/officeDocument/2006/relationships/hyperlink" Target="http://127.0.0.1:4317/lecture.html?stage=predict" TargetMode="External" Id="R4b7d320c5e304aad" /><Relationship Type="http://schemas.openxmlformats.org/officeDocument/2006/relationships/image" Target="/ppt/media/image2.png" Id="R7c46d61bb8a2477b" /><Relationship Type="http://schemas.openxmlformats.org/officeDocument/2006/relationships/notesSlide" Target="/ppt/notesSlides/notesSlide1.xml" Id="R86a96806dacf40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3eaf97af34599" /><Relationship Type="http://schemas.openxmlformats.org/officeDocument/2006/relationships/image" Target="/ppt/media/image3.png" Id="R18c569456c004b3a" /><Relationship Type="http://schemas.openxmlformats.org/officeDocument/2006/relationships/hyperlink" Target="http://127.0.0.1:4317/lecture.html?stage=predict" TargetMode="External" Id="Rd50653136ec24673" /><Relationship Type="http://schemas.openxmlformats.org/officeDocument/2006/relationships/notesSlide" Target="/ppt/notesSlides/notesSlide2.xml" Id="Rd850ec079edf40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70bd6e494468d" /><Relationship Type="http://schemas.openxmlformats.org/officeDocument/2006/relationships/image" Target="/ppt/media/image4.png" Id="Rcf849098635543fb" /><Relationship Type="http://schemas.openxmlformats.org/officeDocument/2006/relationships/hyperlink" Target="http://127.0.0.1:4317/lecture.html?stage=parts" TargetMode="External" Id="R73d41af353c34b6b" /><Relationship Type="http://schemas.openxmlformats.org/officeDocument/2006/relationships/image" Target="/ppt/media/image5.png" Id="R2535db0c3a0848ed" /><Relationship Type="http://schemas.openxmlformats.org/officeDocument/2006/relationships/notesSlide" Target="/ppt/notesSlides/notesSlide3.xml" Id="Ra88580a4d2fc42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ef7a37c564c56" /><Relationship Type="http://schemas.openxmlformats.org/officeDocument/2006/relationships/image" Target="/ppt/media/image6.png" Id="R8bf2a3aec86d4772" /><Relationship Type="http://schemas.openxmlformats.org/officeDocument/2006/relationships/hyperlink" Target="http://127.0.0.1:4317/lecture.html?stage=zero" TargetMode="External" Id="Rbb955f93db72489e" /><Relationship Type="http://schemas.openxmlformats.org/officeDocument/2006/relationships/notesSlide" Target="/ppt/notesSlides/notesSlide4.xml" Id="R332299f6df564f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95ee1d65640c4" /><Relationship Type="http://schemas.openxmlformats.org/officeDocument/2006/relationships/image" Target="/ppt/media/image7.png" Id="R322be6c3f8394701" /><Relationship Type="http://schemas.openxmlformats.org/officeDocument/2006/relationships/hyperlink" Target="http://127.0.0.1:4317/lecture.html?stage=measure" TargetMode="External" Id="Rf31795bd890b49a7" /><Relationship Type="http://schemas.openxmlformats.org/officeDocument/2006/relationships/notesSlide" Target="/ppt/notesSlides/notesSlide5.xml" Id="R7b87fe6e195048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44b31570c4c03" /><Relationship Type="http://schemas.openxmlformats.org/officeDocument/2006/relationships/image" Target="/ppt/media/image8.png" Id="Re5d5fcf420324518" /><Relationship Type="http://schemas.openxmlformats.org/officeDocument/2006/relationships/hyperlink" Target="http://127.0.0.1:4317/lecture.html?stage=eye" TargetMode="External" Id="R26ad5eac65c14918" /><Relationship Type="http://schemas.openxmlformats.org/officeDocument/2006/relationships/image" Target="/ppt/media/image9.png" Id="Re4752010327b4472" /><Relationship Type="http://schemas.openxmlformats.org/officeDocument/2006/relationships/notesSlide" Target="/ppt/notesSlides/notesSlide6.xml" Id="R418ceebff60148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dc11167e04812" /><Relationship Type="http://schemas.openxmlformats.org/officeDocument/2006/relationships/image" Target="/ppt/media/image10.png" Id="Radca077f764248da" /><Relationship Type="http://schemas.openxmlformats.org/officeDocument/2006/relationships/hyperlink" Target="http://127.0.0.1:4317/lecture.html?stage=types" TargetMode="External" Id="Ra3379a813f044d05" /><Relationship Type="http://schemas.openxmlformats.org/officeDocument/2006/relationships/notesSlide" Target="/ppt/notesSlides/notesSlide7.xml" Id="Rc47ce16beb4c41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b1b13fab44997" /><Relationship Type="http://schemas.openxmlformats.org/officeDocument/2006/relationships/image" Target="/ppt/media/image11.png" Id="R1ef262d4a9604e9b" /><Relationship Type="http://schemas.openxmlformats.org/officeDocument/2006/relationships/hyperlink" Target="http://127.0.0.1:4317/lecture.html?stage=story" TargetMode="External" Id="Rf00a72ff013145bd" /><Relationship Type="http://schemas.openxmlformats.org/officeDocument/2006/relationships/hyperlink" Target="https://drive.google.com/file/d/1oatstBXJS3VBsSqT0v2VnA67wDktBWSt/view" TargetMode="External" Id="R8c0a6df87f604146" /><Relationship Type="http://schemas.openxmlformats.org/officeDocument/2006/relationships/notesSlide" Target="/ppt/notesSlides/notesSlide8.xml" Id="R5635551faa3048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108616b8a4b35" /><Relationship Type="http://schemas.openxmlformats.org/officeDocument/2006/relationships/image" Target="/ppt/media/image12.png" Id="R805186ec980d4b24" /><Relationship Type="http://schemas.openxmlformats.org/officeDocument/2006/relationships/hyperlink" Target="http://127.0.0.1:4317/lecture.html?stage=daily" TargetMode="External" Id="R015647cae6b543c2" /><Relationship Type="http://schemas.openxmlformats.org/officeDocument/2006/relationships/image" Target="/ppt/media/image13.png" Id="Ree22aa88b53a4591" /><Relationship Type="http://schemas.openxmlformats.org/officeDocument/2006/relationships/notesSlide" Target="/ppt/notesSlides/notesSlide9.xml" Id="Rd1cb9cca6e8147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3e69e7a5c4fec" /><Relationship Type="http://schemas.openxmlformats.org/officeDocument/2006/relationships/image" Target="/ppt/media/image14.png" Id="R315fcab44bc74473" /><Relationship Type="http://schemas.openxmlformats.org/officeDocument/2006/relationships/hyperlink" Target="http://127.0.0.1:4317/lecture.html?stage=daily" TargetMode="External" Id="R3544b12276524c25" /><Relationship Type="http://schemas.openxmlformats.org/officeDocument/2006/relationships/notesSlide" Target="/ppt/notesSlides/notesSlide10.xml" Id="Radddc9292a0a4c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2a2268f30480c" /><Relationship Type="http://schemas.openxmlformats.org/officeDocument/2006/relationships/image" Target="/ppt/media/image15.png" Id="R0514bfb842784068" /><Relationship Type="http://schemas.openxmlformats.org/officeDocument/2006/relationships/hyperlink" Target="http://127.0.0.1:4317/lecture.html?stage=daily" TargetMode="External" Id="R3ddb10ad98194c24" /><Relationship Type="http://schemas.openxmlformats.org/officeDocument/2006/relationships/image" Target="/ppt/media/image16.png" Id="R4314c6389b914472" /><Relationship Type="http://schemas.openxmlformats.org/officeDocument/2006/relationships/notesSlide" Target="/ppt/notesSlides/notesSlide11.xml" Id="R54c055e9995f4d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bc69311e84aa1" /><Relationship Type="http://schemas.openxmlformats.org/officeDocument/2006/relationships/image" Target="/ppt/media/image17.png" Id="Rada27693625a4b7d" /><Relationship Type="http://schemas.openxmlformats.org/officeDocument/2006/relationships/hyperlink" Target="http://127.0.0.1:4317/lecture.html?stage=daily" TargetMode="External" Id="R5e0efb9c2a3b498e" /><Relationship Type="http://schemas.openxmlformats.org/officeDocument/2006/relationships/notesSlide" Target="/ppt/notesSlides/notesSlide12.xml" Id="R3eac36a10d8041e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92156fffb41ae" /><Relationship Type="http://schemas.openxmlformats.org/officeDocument/2006/relationships/image" Target="/ppt/media/image18.png" Id="R2babe892a74143ac" /><Relationship Type="http://schemas.openxmlformats.org/officeDocument/2006/relationships/hyperlink" Target="http://127.0.0.1:4317/lecture.html?stage=measure" TargetMode="External" Id="R4408243a19d94341" /><Relationship Type="http://schemas.openxmlformats.org/officeDocument/2006/relationships/notesSlide" Target="/ppt/notesSlides/notesSlide13.xml" Id="R35cc9175fc5e43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1af509e444503"/>
          <a:stretch xmlns:a="http://schemas.openxmlformats.org/drawingml/2006/main"/>
        </p:blipFill>
        <p:spPr>
          <a:xfrm xmlns:a="http://schemas.openxmlformats.org/drawingml/2006/main">
            <a:off x="10191750" y="276526"/>
            <a:ext cx="1333500" cy="68519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646B1-AF1B-422F-BDC6-CC0AC906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42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MSG 사이언스 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61FA4-82C9-4443-B834-DF6620A0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rPr>
              <a:t>초과심_물리  CHAPTER 01   교재 10쪽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36750-F97A-4D2F-BEB7-E81D8AF5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CF053-BE43-47A6-ACC2-D50C4EAD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87D83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4b7d320c5e304aad"/>
              </a:rPr>
              <a:t>전자칠판 실험 열기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3E74E-B44F-4670-9619-D05E2AFB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7D8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287D83"/>
                </a:solidFill>
                <a:latin typeface="Malgun Gothic"/>
                <a:ea typeface="Malgun Gothic"/>
                <a:cs typeface="Malgun Gothic"/>
              </a:rPr>
              <a:t>초과심_물리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96737-9C3C-4927-AC20-7F24CBAD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7381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4875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용수철저울의</a:t>
            </a:r>
          </a:p>
          <a:p xmlns:a="http://schemas.openxmlformats.org/drawingml/2006/main">
            <a:pPr>
              <a:defRPr sz="4875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4875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구조 익히기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2C070-7C8B-4BCD-878B-6A42192B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86325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rPr>
              <a:t>PART I  무게 재기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6d61bb8a2477b"/>
          <a:stretch xmlns:a="http://schemas.openxmlformats.org/drawingml/2006/main"/>
        </p:blipFill>
        <p:spPr>
          <a:xfrm xmlns:a="http://schemas.openxmlformats.org/drawingml/2006/main">
            <a:off x="8262938" y="1333500"/>
            <a:ext cx="2781300" cy="4171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440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569456c004b3a"/>
          <a:stretch xmlns:a="http://schemas.openxmlformats.org/drawingml/2006/main"/>
        </p:blipFill>
        <p:spPr>
          <a:xfrm xmlns:a="http://schemas.openxmlformats.org/drawingml/2006/main">
            <a:off x="10191750" y="276526"/>
            <a:ext cx="1333500" cy="68519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FE03C-F751-47CC-829A-BABA969F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42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손으로 어림한 무게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7E6B8-596D-4332-ACEC-2BCE9D5F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rPr>
              <a:t>초과심_물리  CHAPTER 01   교재 10쪽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D2BB0-B96A-4B63-BE9B-30FD5B59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D035C-7465-4DE3-9774-0C9D9B57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87D83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d50653136ec24673"/>
              </a:rPr>
              <a:t>전자칠판 실험 열기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36985-9DE2-487B-BF77-DF38E718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같은 물체를 들었는데</a:t>
            </a:r>
          </a:p>
          <a:p xmlns:a="http://schemas.openxmlformats.org/drawingml/2006/main">
            <a:pPr>
              <a:defRPr sz="390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친구와 느낌이 다를까요?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2C3D9-C94A-4872-B280-C3CFDE7D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671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먼저 예상하고, 그렇게 생각한 이유를 말해 봅시다.</a:t>
            </a:r>
          </a:p>
        </p:txBody>
      </p:sp>
    </p:spTree>
    <p:extLst>
      <p:ext uri="{BB962C8B-B14F-4D97-AF65-F5344CB8AC3E}">
        <p14:creationId xmlns:p14="http://schemas.microsoft.com/office/powerpoint/2010/main" val="10612422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49098635543fb"/>
          <a:stretch xmlns:a="http://schemas.openxmlformats.org/drawingml/2006/main"/>
        </p:blipFill>
        <p:spPr>
          <a:xfrm xmlns:a="http://schemas.openxmlformats.org/drawingml/2006/main">
            <a:off x="10191750" y="276526"/>
            <a:ext cx="1333500" cy="68519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7C50D-C1A5-4FFE-B217-83847AB6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42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용수철저울의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F8F29-8A62-49C2-B05B-8E3C67CA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rPr>
              <a:t>초과심_물리  CHAPTER 01   교재 10쪽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92023-DD07-4202-A460-7A64010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BBC01-6C85-4388-ADA2-21DACA0E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87D83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73d41af353c34b6b"/>
              </a:rPr>
              <a:t>전자칠판 실험 열기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35db0c3a0848ed"/>
          <a:stretch xmlns:a="http://schemas.openxmlformats.org/drawingml/2006/main"/>
        </p:blipFill>
        <p:spPr>
          <a:xfrm xmlns:a="http://schemas.openxmlformats.org/drawingml/2006/main">
            <a:off x="1126671" y="1457325"/>
            <a:ext cx="3156857" cy="38671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C748F-E7B6-4F2A-A5E8-8F6FE708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19250"/>
            <a:ext cx="5905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손잡이로 고정하는 저울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C0D87-E174-4A0B-B51A-B3BFDEBE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05075"/>
            <a:ext cx="57150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영점조절나사</a:t>
            </a:r>
          </a:p>
          <a:p xmlns:a="http://schemas.openxmlformats.org/drawingml/2006/main">
            <a:pPr>
              <a:defRPr sz="240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용수철</a:t>
            </a:r>
          </a:p>
          <a:p xmlns:a="http://schemas.openxmlformats.org/drawingml/2006/main">
            <a:pPr>
              <a:defRPr sz="240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표시자와 눈금</a:t>
            </a:r>
          </a:p>
          <a:p xmlns:a="http://schemas.openxmlformats.org/drawingml/2006/main">
            <a:pPr>
              <a:defRPr sz="240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고리</a:t>
            </a:r>
          </a:p>
        </p:txBody>
      </p:sp>
    </p:spTree>
    <p:extLst>
      <p:ext uri="{BB962C8B-B14F-4D97-AF65-F5344CB8AC3E}">
        <p14:creationId xmlns:p14="http://schemas.microsoft.com/office/powerpoint/2010/main" val="16759994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2a3aec86d4772"/>
          <a:stretch xmlns:a="http://schemas.openxmlformats.org/drawingml/2006/main"/>
        </p:blipFill>
        <p:spPr>
          <a:xfrm xmlns:a="http://schemas.openxmlformats.org/drawingml/2006/main">
            <a:off x="10191750" y="276526"/>
            <a:ext cx="1333500" cy="68519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B76C4-4680-4216-80F7-FE440282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42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영점 조절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2C441-A40D-4FC4-8999-A4FE35FF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rPr>
              <a:t>초과심_물리  CHAPTER 01   교재 10쪽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87D60-F3B6-447F-957F-C9BCAA53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E0333-1DC5-443D-8722-C9965ADF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87D83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bb955f93db72489e"/>
              </a:rPr>
              <a:t>전자칠판 실험 열기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8BB4B-FCDF-4CBF-9644-039B268B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물체가 없는데</a:t>
            </a:r>
          </a:p>
          <a:p xmlns:a="http://schemas.openxmlformats.org/drawingml/2006/main">
            <a:pPr>
              <a:defRPr sz="3675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표시자가 0을 가리키지 않아요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94689-3CD5-45D8-9418-7E9463E3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481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어느 부분을 어떻게 조절해야 할까요?</a:t>
            </a:r>
          </a:p>
        </p:txBody>
      </p:sp>
    </p:spTree>
    <p:extLst>
      <p:ext uri="{BB962C8B-B14F-4D97-AF65-F5344CB8AC3E}">
        <p14:creationId xmlns:p14="http://schemas.microsoft.com/office/powerpoint/2010/main" val="19764263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be6c3f8394701"/>
          <a:stretch xmlns:a="http://schemas.openxmlformats.org/drawingml/2006/main"/>
        </p:blipFill>
        <p:spPr>
          <a:xfrm xmlns:a="http://schemas.openxmlformats.org/drawingml/2006/main">
            <a:off x="10191750" y="276526"/>
            <a:ext cx="1333500" cy="68519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46E99-B204-4102-A2EA-B8FBD3E8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42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물체를 매단 뒤의 관찰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77C7B-8CC4-4AD9-98B6-9DDCA9D4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rPr>
              <a:t>초과심_물리  CHAPTER 01   교재 10–11쪽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089C0-39F8-4D23-80C3-11A7D303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D93B5-3F9E-4CF1-AC50-628E32A1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87D83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f31795bd890b49a7"/>
              </a:rPr>
              <a:t>전자칠판 실험 열기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EFF5A-9984-45D7-B18C-2C007D2F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표시자가 움직이는 동안</a:t>
            </a:r>
          </a:p>
          <a:p xmlns:a="http://schemas.openxmlformats.org/drawingml/2006/main">
            <a:pPr>
              <a:defRPr sz="390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눈금을 읽어도 될까요?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9950E-0068-441A-A352-F52FBDB3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433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물체를 고리에 걸고, 표시자의 움직임을 관찰합니다.</a:t>
            </a:r>
          </a:p>
        </p:txBody>
      </p:sp>
    </p:spTree>
    <p:extLst>
      <p:ext uri="{BB962C8B-B14F-4D97-AF65-F5344CB8AC3E}">
        <p14:creationId xmlns:p14="http://schemas.microsoft.com/office/powerpoint/2010/main" val="11543149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d5fcf420324518"/>
          <a:stretch xmlns:a="http://schemas.openxmlformats.org/drawingml/2006/main"/>
        </p:blipFill>
        <p:spPr>
          <a:xfrm xmlns:a="http://schemas.openxmlformats.org/drawingml/2006/main">
            <a:off x="10191750" y="276526"/>
            <a:ext cx="1333500" cy="68519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6DD87-9ECE-412A-97EA-E52582CF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42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눈금을 읽는 눈높이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96C94-E4E5-4832-A6F8-FDFF813B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rPr>
              <a:t>초과심_물리  CHAPTER 01   교재 11쪽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305EE-29B5-4D19-BCEE-B570D827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A08DC-704C-43BD-AD49-69F110D7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87D83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26ad5eac65c14918"/>
              </a:rPr>
              <a:t>전자칠판 실험 열기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752010327b4472"/>
          <a:stretch xmlns:a="http://schemas.openxmlformats.org/drawingml/2006/main"/>
        </p:blipFill>
        <p:spPr>
          <a:xfrm xmlns:a="http://schemas.openxmlformats.org/drawingml/2006/main">
            <a:off x="2190750" y="1533525"/>
            <a:ext cx="7715250" cy="3086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0483E-2079-41C7-9E7E-9E8BF00B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①, ②, ③ 중 어디에서 읽어야 할까요?</a:t>
            </a:r>
          </a:p>
        </p:txBody>
      </p:sp>
    </p:spTree>
    <p:extLst>
      <p:ext uri="{BB962C8B-B14F-4D97-AF65-F5344CB8AC3E}">
        <p14:creationId xmlns:p14="http://schemas.microsoft.com/office/powerpoint/2010/main" val="11762608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a077f764248da"/>
          <a:stretch xmlns:a="http://schemas.openxmlformats.org/drawingml/2006/main"/>
        </p:blipFill>
        <p:spPr>
          <a:xfrm xmlns:a="http://schemas.openxmlformats.org/drawingml/2006/main">
            <a:off x="10191750" y="276526"/>
            <a:ext cx="1333500" cy="68519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7A0FB-FB9B-4FF5-AD83-2A01F5AF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42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용수철저울의 종류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59F02-5074-45FA-B2F3-F30967E9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rPr>
              <a:t>초과심_물리  CHAPTER 01   교재 12쪽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98C1F-D735-4CAB-8C97-8FBAD769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140FB-70EF-471E-86D0-65B3BFAD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87D83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a3379a813f044d05"/>
              </a:rPr>
              <a:t>전자칠판 실험 열기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D3C6F-E5F9-4D22-A251-961570FD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용수철저울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61902-B397-4C4D-903A-8F690F97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3381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실험용 추와 여러 물체</a:t>
            </a:r>
          </a:p>
          <a:p xmlns:a="http://schemas.openxmlformats.org/drawingml/2006/main">
            <a:pPr>
              <a:defRPr sz="217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물체를 고리에 매달기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34B97-EDED-4552-903E-AE70F085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앉은뱅이저울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89CD6-3E40-4B26-9D66-FA036728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3381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채소 등 식재료</a:t>
            </a:r>
          </a:p>
          <a:p xmlns:a="http://schemas.openxmlformats.org/drawingml/2006/main">
            <a:pPr>
              <a:defRPr sz="217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물체를 접시에 올리기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2673A-666E-4882-B132-2BE377F3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57400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체중계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07576-2C82-4E93-8B97-2C209703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3381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사람의 몸</a:t>
            </a:r>
          </a:p>
          <a:p xmlns:a="http://schemas.openxmlformats.org/drawingml/2006/main">
            <a:pPr>
              <a:defRPr sz="217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표시가 멈춘 뒤 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F5F3B-897B-4BAD-8426-D293FCEA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4822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7D8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287D83"/>
                </a:solidFill>
                <a:latin typeface="Malgun Gothic"/>
                <a:ea typeface="Malgun Gothic"/>
                <a:cs typeface="Malgun Gothic"/>
              </a:rPr>
              <a:t>사용 전 0을 확인하고, 표시가 멈추면 눈금을 읽습니다.</a:t>
            </a:r>
          </a:p>
        </p:txBody>
      </p:sp>
    </p:spTree>
    <p:extLst>
      <p:ext uri="{BB962C8B-B14F-4D97-AF65-F5344CB8AC3E}">
        <p14:creationId xmlns:p14="http://schemas.microsoft.com/office/powerpoint/2010/main" val="7305293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262d4a9604e9b"/>
          <a:stretch xmlns:a="http://schemas.openxmlformats.org/drawingml/2006/main"/>
        </p:blipFill>
        <p:spPr>
          <a:xfrm xmlns:a="http://schemas.openxmlformats.org/drawingml/2006/main">
            <a:off x="10191750" y="276526"/>
            <a:ext cx="1333500" cy="68519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946FE-2EC8-4955-9BDD-9C733855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42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용수철의 과거와 미래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50BE6-C5A7-4AAA-9FB9-863D4FF3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rPr>
              <a:t>초과심_물리  CHAPTER 01   교재 13–14쪽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E81AD-15BA-4F0D-9D2C-2D751721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79BAB-0B12-467F-9CBA-41E52BFF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87D83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f00a72ff013145bd"/>
              </a:rPr>
              <a:t>전자칠판 실험 열기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B3FC4-550B-4663-86EC-651DD8AB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954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교재에서 함께 읽을 이야기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0A426-5825-4701-8771-5CDC351F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13쪽  용수철의 이름이 붙여진 유래와 과거</a:t>
            </a:r>
          </a:p>
          <a:p xmlns:a="http://schemas.openxmlformats.org/drawingml/2006/main">
            <a:pPr>
              <a:defRPr sz="225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14쪽  코일 형태 용수철의 등장과 미래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B0D05-412A-420E-BEC6-91A5E61B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24375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7D8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87D83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8c0a6df87f604146"/>
              </a:rPr>
              <a:t>원본 교재 열기</a:t>
            </a:r>
          </a:p>
        </p:txBody>
      </p:sp>
    </p:spTree>
    <p:extLst>
      <p:ext uri="{BB962C8B-B14F-4D97-AF65-F5344CB8AC3E}">
        <p14:creationId xmlns:p14="http://schemas.microsoft.com/office/powerpoint/2010/main" val="17153966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5186ec980d4b24"/>
          <a:stretch xmlns:a="http://schemas.openxmlformats.org/drawingml/2006/main"/>
        </p:blipFill>
        <p:spPr>
          <a:xfrm xmlns:a="http://schemas.openxmlformats.org/drawingml/2006/main">
            <a:off x="10191750" y="276526"/>
            <a:ext cx="1333500" cy="68519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F18ED-DE94-4EB6-889F-4C7AE4D5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42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일일평가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5F64E-DB18-472D-8834-6339F5AA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rPr>
              <a:t>초과심_물리  CHAPTER 01   교재 15쪽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A8DA3-548B-492F-9AA1-0E9DF24C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0950A-F6BA-4002-8C26-0204F3FA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87D83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015647cae6b543c2"/>
              </a:rPr>
              <a:t>전자칠판 실험 열기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2aa88b53a4591"/>
          <a:stretch xmlns:a="http://schemas.openxmlformats.org/drawingml/2006/main"/>
        </p:blipFill>
        <p:spPr>
          <a:xfrm xmlns:a="http://schemas.openxmlformats.org/drawingml/2006/main">
            <a:off x="939573" y="1590675"/>
            <a:ext cx="2264229" cy="3962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DC74D-18BB-4B33-8A8C-9625982E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47825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다음 사진의 용수철저울을 가리키고 있는</a:t>
            </a:r>
          </a:p>
          <a:p xmlns:a="http://schemas.openxmlformats.org/drawingml/2006/main">
            <a:pPr>
              <a:defRPr sz="232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각 부분의 이름을 (  ) 안에 쓰시오.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28219-97A6-4676-A1B2-07A941E6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48000"/>
            <a:ext cx="7143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ㄱ  (                         )</a:t>
            </a:r>
          </a:p>
          <a:p xmlns:a="http://schemas.openxmlformats.org/drawingml/2006/main">
            <a:pPr>
              <a:defRPr sz="247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ㄴ  (                         )</a:t>
            </a:r>
          </a:p>
          <a:p xmlns:a="http://schemas.openxmlformats.org/drawingml/2006/main">
            <a:pPr>
              <a:defRPr sz="247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ㄷ  (                         )</a:t>
            </a:r>
          </a:p>
          <a:p xmlns:a="http://schemas.openxmlformats.org/drawingml/2006/main">
            <a:pPr>
              <a:defRPr sz="247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ㄹ  (                         )</a:t>
            </a:r>
          </a:p>
        </p:txBody>
      </p:sp>
    </p:spTree>
    <p:extLst>
      <p:ext uri="{BB962C8B-B14F-4D97-AF65-F5344CB8AC3E}">
        <p14:creationId xmlns:p14="http://schemas.microsoft.com/office/powerpoint/2010/main" val="11489853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5fcab44bc74473"/>
          <a:stretch xmlns:a="http://schemas.openxmlformats.org/drawingml/2006/main"/>
        </p:blipFill>
        <p:spPr>
          <a:xfrm xmlns:a="http://schemas.openxmlformats.org/drawingml/2006/main">
            <a:off x="10191750" y="276526"/>
            <a:ext cx="1333500" cy="68519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045B6-2A98-4CEE-990C-1E20E16C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42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일일평가 02·03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F60E0-5B28-412A-A559-6D681CAC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rPr>
              <a:t>초과심_물리  CHAPTER 01   교재 15쪽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9C1FC-39B5-42BC-9523-E2EA071F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84491-64FE-438B-81F0-B73BCCFD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87D83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3544b12276524c25"/>
              </a:rPr>
              <a:t>전자칠판 실험 열기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68210-5F8C-400F-8469-D356DF5E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906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02  가장 먼저 해야 할 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EB666-410F-4910-B8A8-E4916C81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622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① 무게를 읽는다.       ② 물체를 매단다.</a:t>
            </a:r>
          </a:p>
          <a:p xmlns:a="http://schemas.openxmlformats.org/drawingml/2006/main">
            <a:pPr>
              <a:defRPr sz="210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③ 영점을 맞춘다.       ④ 그래프를 그린다.</a:t>
            </a:r>
          </a:p>
          <a:p xmlns:a="http://schemas.openxmlformats.org/drawingml/2006/main">
            <a:pPr>
              <a:defRPr sz="210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⑤ 용수철을 잡아당겨 본다.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25725-A654-4431-AEA8-A7359509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576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03  눈금을 읽을 수 있는 표시를 해 주는 장치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C00FE-B9DD-4A5A-ABDC-1FDA97E7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339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답: (                                      )</a:t>
            </a:r>
          </a:p>
        </p:txBody>
      </p:sp>
    </p:spTree>
    <p:extLst>
      <p:ext uri="{BB962C8B-B14F-4D97-AF65-F5344CB8AC3E}">
        <p14:creationId xmlns:p14="http://schemas.microsoft.com/office/powerpoint/2010/main" val="13422000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4bfb842784068"/>
          <a:stretch xmlns:a="http://schemas.openxmlformats.org/drawingml/2006/main"/>
        </p:blipFill>
        <p:spPr>
          <a:xfrm xmlns:a="http://schemas.openxmlformats.org/drawingml/2006/main">
            <a:off x="10191750" y="276526"/>
            <a:ext cx="1333500" cy="68519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9D90E-72D5-486C-8FEE-4ECECAA2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42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일일평가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E1BE9-537A-4DF7-863D-1FCB41D8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rPr>
              <a:t>초과심_물리  CHAPTER 01   교재 15쪽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EF554-5B7D-4D30-BA91-CA3ACA40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CA10F-42CE-442B-8F6E-ADF7A657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87D83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3ddb10ad98194c24"/>
              </a:rPr>
              <a:t>전자칠판 실험 열기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4c6389b914472"/>
          <a:stretch xmlns:a="http://schemas.openxmlformats.org/drawingml/2006/main"/>
        </p:blipFill>
        <p:spPr>
          <a:xfrm xmlns:a="http://schemas.openxmlformats.org/drawingml/2006/main">
            <a:off x="1135307" y="1647825"/>
            <a:ext cx="3815862" cy="3543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6AB3C-7E2B-4A7B-BF36-54776A34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9775"/>
            <a:ext cx="53340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눈금을 읽는 눈높이로</a:t>
            </a:r>
          </a:p>
          <a:p xmlns:a="http://schemas.openxmlformats.org/drawingml/2006/main">
            <a:pPr>
              <a:defRPr sz="247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알맞은 곳의 기호를 쓰시오.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70872-1FE6-42E3-BC10-801A7F53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867150"/>
            <a:ext cx="542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답: (                       )</a:t>
            </a:r>
          </a:p>
        </p:txBody>
      </p:sp>
    </p:spTree>
    <p:extLst>
      <p:ext uri="{BB962C8B-B14F-4D97-AF65-F5344CB8AC3E}">
        <p14:creationId xmlns:p14="http://schemas.microsoft.com/office/powerpoint/2010/main" val="19421101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27693625a4b7d"/>
          <a:stretch xmlns:a="http://schemas.openxmlformats.org/drawingml/2006/main"/>
        </p:blipFill>
        <p:spPr>
          <a:xfrm xmlns:a="http://schemas.openxmlformats.org/drawingml/2006/main">
            <a:off x="10191750" y="276526"/>
            <a:ext cx="1333500" cy="68519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E524D-99BE-4A33-A5FA-9EF3E035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42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일일평가 05·06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B3DB3-FB28-453E-A2CB-51BD81B1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rPr>
              <a:t>초과심_물리  CHAPTER 01   교재 15쪽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CDBB1-8CCF-498E-AE25-4B4AE18E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B0A68-4B85-457E-B240-8F93E785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87D83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5e0efb9c2a3b498e"/>
              </a:rPr>
              <a:t>전자칠판 실험 열기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87B12-AEEF-4026-9911-ECE0FD7E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05  표시자가 가리키는 숫자는 20 N입니다.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27CB1-FB6C-4CA1-AEDF-22A8C980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81250"/>
            <a:ext cx="10572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위에서 내려다보면 어떻게 보일까요?</a:t>
            </a:r>
          </a:p>
          <a:p xmlns:a="http://schemas.openxmlformats.org/drawingml/2006/main">
            <a:pPr>
              <a:defRPr sz="240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20 N 초과 / 20 N / 20 N 미만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8A386-ECB7-462C-9229-C1DEC41C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06  물체를 매다는 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E0E95-702B-4990-9EDE-C8F2703D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196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고리 / 손잡이</a:t>
            </a:r>
          </a:p>
        </p:txBody>
      </p:sp>
    </p:spTree>
    <p:extLst>
      <p:ext uri="{BB962C8B-B14F-4D97-AF65-F5344CB8AC3E}">
        <p14:creationId xmlns:p14="http://schemas.microsoft.com/office/powerpoint/2010/main" val="3240346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be892a74143ac"/>
          <a:stretch xmlns:a="http://schemas.openxmlformats.org/drawingml/2006/main"/>
        </p:blipFill>
        <p:spPr>
          <a:xfrm xmlns:a="http://schemas.openxmlformats.org/drawingml/2006/main">
            <a:off x="10191750" y="276526"/>
            <a:ext cx="1333500" cy="68519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A7D920-0335-4E82-A80F-6332620F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42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측정 순서를 내 말로 설명하기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CC4D8-3954-45AA-AF58-5E0F898A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rPr>
              <a:t>초과심_물리  CHAPTER 01   교재 10–15쪽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A9DD4-427D-48EC-A69C-5A8A3B3D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87080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377A9-AC65-49B6-B47C-6AA368C1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87D83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4408243a19d94341"/>
              </a:rPr>
              <a:t>전자칠판 실험 열기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15A90C-09B9-4DA7-B0FB-EF4FA093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친구에게 저울 사용 방법을</a:t>
            </a:r>
          </a:p>
          <a:p xmlns:a="http://schemas.openxmlformats.org/drawingml/2006/main">
            <a:pPr>
              <a:defRPr sz="390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처음부터 설명해 볼까요?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98DDA-6766-4668-82E5-443512FD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814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02F52"/>
                </a:solidFill>
                <a:latin typeface="Malgun Gothic"/>
                <a:ea typeface="Malgun Gothic"/>
                <a:cs typeface="Malgun Gothic"/>
              </a:rPr>
              <a:t>사용 전 준비와 눈금을 읽는 순간을 모두 이야기해요.</a:t>
            </a:r>
          </a:p>
        </p:txBody>
      </p:sp>
    </p:spTree>
    <p:extLst>
      <p:ext uri="{BB962C8B-B14F-4D97-AF65-F5344CB8AC3E}">
        <p14:creationId xmlns:p14="http://schemas.microsoft.com/office/powerpoint/2010/main" val="8486258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2026-09-22T09:38:59.2590000Z</dcterms:created>
  <dcterms:modified xsi:type="dcterms:W3CDTF">2026-09-22T09:38:59.2590000Z</dcterms:modified>
</coreProperties>
</file>